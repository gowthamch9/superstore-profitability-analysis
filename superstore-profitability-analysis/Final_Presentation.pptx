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wtham Venkat" userId="c2cb7b28308a79ff" providerId="LiveId" clId="{7B3A8FE6-1451-4C5E-8258-1AD782117D1E}"/>
    <pc:docChg chg="custSel modSld">
      <pc:chgData name="Gowtham Venkat" userId="c2cb7b28308a79ff" providerId="LiveId" clId="{7B3A8FE6-1451-4C5E-8258-1AD782117D1E}" dt="2026-05-15T14:37:12.784" v="92" actId="1076"/>
      <pc:docMkLst>
        <pc:docMk/>
      </pc:docMkLst>
      <pc:sldChg chg="addSp delSp modSp mod">
        <pc:chgData name="Gowtham Venkat" userId="c2cb7b28308a79ff" providerId="LiveId" clId="{7B3A8FE6-1451-4C5E-8258-1AD782117D1E}" dt="2026-05-15T13:50:41.296" v="8" actId="14100"/>
        <pc:sldMkLst>
          <pc:docMk/>
          <pc:sldMk cId="4166762520" sldId="256"/>
        </pc:sldMkLst>
        <pc:spChg chg="add del mod">
          <ac:chgData name="Gowtham Venkat" userId="c2cb7b28308a79ff" providerId="LiveId" clId="{7B3A8FE6-1451-4C5E-8258-1AD782117D1E}" dt="2026-05-15T13:50:34.360" v="7"/>
          <ac:spMkLst>
            <pc:docMk/>
            <pc:sldMk cId="4166762520" sldId="256"/>
            <ac:spMk id="10" creationId="{663F4CAD-9EF4-0FD8-01F6-A61A600798F1}"/>
          </ac:spMkLst>
        </pc:spChg>
        <pc:picChg chg="mod">
          <ac:chgData name="Gowtham Venkat" userId="c2cb7b28308a79ff" providerId="LiveId" clId="{7B3A8FE6-1451-4C5E-8258-1AD782117D1E}" dt="2026-05-15T13:50:41.296" v="8" actId="14100"/>
          <ac:picMkLst>
            <pc:docMk/>
            <pc:sldMk cId="4166762520" sldId="256"/>
            <ac:picMk id="8" creationId="{F5002B36-D028-BA51-63CF-777DE302039B}"/>
          </ac:picMkLst>
        </pc:picChg>
      </pc:sldChg>
      <pc:sldChg chg="modSp mod">
        <pc:chgData name="Gowtham Venkat" userId="c2cb7b28308a79ff" providerId="LiveId" clId="{7B3A8FE6-1451-4C5E-8258-1AD782117D1E}" dt="2026-05-15T14:37:12.784" v="92" actId="1076"/>
        <pc:sldMkLst>
          <pc:docMk/>
          <pc:sldMk cId="2532115359" sldId="257"/>
        </pc:sldMkLst>
        <pc:spChg chg="mod">
          <ac:chgData name="Gowtham Venkat" userId="c2cb7b28308a79ff" providerId="LiveId" clId="{7B3A8FE6-1451-4C5E-8258-1AD782117D1E}" dt="2026-05-15T14:37:12.784" v="92" actId="1076"/>
          <ac:spMkLst>
            <pc:docMk/>
            <pc:sldMk cId="2532115359" sldId="257"/>
            <ac:spMk id="3" creationId="{1A594601-7B24-A174-B674-F195350B2CF7}"/>
          </ac:spMkLst>
        </pc:spChg>
      </pc:sldChg>
      <pc:sldChg chg="modSp mod">
        <pc:chgData name="Gowtham Venkat" userId="c2cb7b28308a79ff" providerId="LiveId" clId="{7B3A8FE6-1451-4C5E-8258-1AD782117D1E}" dt="2026-05-15T14:24:45.789" v="90" actId="20577"/>
        <pc:sldMkLst>
          <pc:docMk/>
          <pc:sldMk cId="561149147" sldId="259"/>
        </pc:sldMkLst>
        <pc:spChg chg="mod">
          <ac:chgData name="Gowtham Venkat" userId="c2cb7b28308a79ff" providerId="LiveId" clId="{7B3A8FE6-1451-4C5E-8258-1AD782117D1E}" dt="2026-05-15T14:24:45.789" v="90" actId="20577"/>
          <ac:spMkLst>
            <pc:docMk/>
            <pc:sldMk cId="561149147" sldId="259"/>
            <ac:spMk id="3" creationId="{CF174EBE-D580-A256-5947-4C255494BDB1}"/>
          </ac:spMkLst>
        </pc:spChg>
      </pc:sldChg>
      <pc:sldChg chg="modSp mod">
        <pc:chgData name="Gowtham Venkat" userId="c2cb7b28308a79ff" providerId="LiveId" clId="{7B3A8FE6-1451-4C5E-8258-1AD782117D1E}" dt="2026-05-15T14:00:13.704" v="10" actId="13926"/>
        <pc:sldMkLst>
          <pc:docMk/>
          <pc:sldMk cId="2954983788" sldId="260"/>
        </pc:sldMkLst>
        <pc:spChg chg="mod">
          <ac:chgData name="Gowtham Venkat" userId="c2cb7b28308a79ff" providerId="LiveId" clId="{7B3A8FE6-1451-4C5E-8258-1AD782117D1E}" dt="2026-05-15T14:00:13.704" v="10" actId="13926"/>
          <ac:spMkLst>
            <pc:docMk/>
            <pc:sldMk cId="2954983788" sldId="260"/>
            <ac:spMk id="3" creationId="{9E187149-69F2-59D7-D345-ECD5823C8B67}"/>
          </ac:spMkLst>
        </pc:spChg>
      </pc:sldChg>
      <pc:sldChg chg="modSp mod">
        <pc:chgData name="Gowtham Venkat" userId="c2cb7b28308a79ff" providerId="LiveId" clId="{7B3A8FE6-1451-4C5E-8258-1AD782117D1E}" dt="2026-05-15T14:14:23.880" v="83" actId="13926"/>
        <pc:sldMkLst>
          <pc:docMk/>
          <pc:sldMk cId="4009062721" sldId="261"/>
        </pc:sldMkLst>
        <pc:spChg chg="mod">
          <ac:chgData name="Gowtham Venkat" userId="c2cb7b28308a79ff" providerId="LiveId" clId="{7B3A8FE6-1451-4C5E-8258-1AD782117D1E}" dt="2026-05-15T14:14:23.880" v="83" actId="13926"/>
          <ac:spMkLst>
            <pc:docMk/>
            <pc:sldMk cId="4009062721" sldId="261"/>
            <ac:spMk id="2" creationId="{F5408441-D2C1-9568-A53E-78A90FD7773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4BA64-14D4-897E-5C83-6887576B21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BCEC4A-CE49-82FE-62A3-4FBEFEF1B9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98A97-F504-C8C4-4067-3FDF51F22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505B-1F99-4D1F-B195-19CD0BCBE29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3C91C-13D4-18EE-9A5C-E39E9A77D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805AF-4822-EB50-8565-E01752E12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41B54-4B3E-4743-B6B5-7F22019ED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23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53F23-9FB5-9B54-F43E-02746975C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B55D7-6447-53E3-E31D-C9B102410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4D5F2-FD44-D8B2-C4A3-57C300D50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505B-1F99-4D1F-B195-19CD0BCBE29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B36AA-A15A-47FE-9592-95F044241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C9320-0368-1C72-16E1-17DE15BCF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41B54-4B3E-4743-B6B5-7F22019ED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706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16230-3B34-7480-533C-47276E416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9736F-18EB-957E-373F-E0FF3CAC1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855C3-66B1-FFF7-D2AB-23D6F2188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505B-1F99-4D1F-B195-19CD0BCBE29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214F3-13D2-B037-8A80-C3CA9B063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EE11B-4964-72D7-E8E7-0A75B3499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41B54-4B3E-4743-B6B5-7F22019ED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467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09864-453C-913D-BE36-829C0EF59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0F56C-CA01-419E-DCBB-2C2B644B98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379ABC-E8B5-7ABE-E58B-E5FAFA898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0EA76E-69FF-B8FD-387A-8E64D998F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505B-1F99-4D1F-B195-19CD0BCBE29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5A8E1-FF5B-6F4B-CACB-E8366D0D8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B77773-04F5-2984-B863-F6E0EF774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41B54-4B3E-4743-B6B5-7F22019ED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59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CF3A0-B8D1-3D93-4446-0D00D1D9A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FA67A-5E5B-3EAC-93BD-16C6D6D36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D2AADD-A615-88B2-48C9-2B33D1B5C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860B33-DACE-3549-70C6-E3144C6A7A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E625C5-C5F9-3C3F-BFF9-87C3136EBC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E32697-0B37-6177-6EE2-2A9F03CAE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505B-1F99-4D1F-B195-19CD0BCBE29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EAE02B-56DE-AC7E-6E38-04090E41E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59B64B-8534-61FA-C1FE-B54436957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41B54-4B3E-4743-B6B5-7F22019ED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276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91117-2339-6EB4-9F04-E4C8B6B07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876BA3-3BEC-87B9-C6BA-30CDE6EB8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505B-1F99-4D1F-B195-19CD0BCBE29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71EC11-4C66-7A4C-198E-99226C00E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D34260-A034-0A26-E25D-074750803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41B54-4B3E-4743-B6B5-7F22019ED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18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EB8589-81FF-11F2-1EAB-4F229BFFF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505B-1F99-4D1F-B195-19CD0BCBE29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305B84-E27A-22B0-A98B-4EA4B1BD9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F6967-A3E9-FDD4-479B-0F0833F97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41B54-4B3E-4743-B6B5-7F22019ED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607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342F-5091-F5E8-7701-1FCFEA34B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81D34-6301-B3FE-3B85-2814FA412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63C0D4-7A3F-DBC8-3DE7-B8F7775844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92752D-4C7A-38B8-43D3-0A93115E3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505B-1F99-4D1F-B195-19CD0BCBE29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CB4504-4B6D-777B-A2E3-76E52CC9F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BFA6C6-C233-77E5-403B-70F45D34D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41B54-4B3E-4743-B6B5-7F22019ED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63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265B8-D811-B104-4880-6589CEF9F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E462FE-99F9-B2A8-00A1-1DFF7415DF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6AA354-0D8B-1E43-51BA-FD7DEFE1F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7FCFE-0177-0AD6-C771-227E48DB9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505B-1F99-4D1F-B195-19CD0BCBE29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55142-0F03-3408-D7A1-866F2A4FA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CDD5C6-794E-24A2-057C-4E3BECCF4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41B54-4B3E-4743-B6B5-7F22019ED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503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B3C7B-9140-C56D-2D36-232EF5839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060FA3-799F-D11E-0560-E5B317328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74862-2600-2174-DEB0-319666C15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505B-1F99-4D1F-B195-19CD0BCBE29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3037F-DDEC-8469-4F44-B863C5522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0B20A-3F16-0EF0-9762-A8509901E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41B54-4B3E-4743-B6B5-7F22019ED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865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C81EC7-CEC8-0984-0752-6742B62891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F29ED3-81BF-A982-B8E0-22A5348DB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27978-B20D-CB90-FD67-C105C6209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505B-1F99-4D1F-B195-19CD0BCBE29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9EEE9-D53F-42CD-F94C-A7F74404A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21ECF-7735-B0E1-650A-FF8EEEBBC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41B54-4B3E-4743-B6B5-7F22019ED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73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92D642-695F-1545-D393-9B16CEF1A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198001-71FB-C872-1547-62872AA8C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448C0-914C-C402-D42F-B1A38A1B91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AA505B-1F99-4D1F-B195-19CD0BCBE29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41998-7DF0-4E0A-792E-A1D4FFC3AF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E7250-5235-572E-933C-FDD4E20637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B41B54-4B3E-4743-B6B5-7F22019ED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630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2DC4BF-52DF-BC94-9E10-C2F0BEA55459}"/>
              </a:ext>
            </a:extLst>
          </p:cNvPr>
          <p:cNvSpPr txBox="1"/>
          <p:nvPr/>
        </p:nvSpPr>
        <p:spPr>
          <a:xfrm>
            <a:off x="2706624" y="0"/>
            <a:ext cx="70135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Revenue Growth Masks Profitability Crisis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D5E827-09FB-7E86-E8D1-D7DEEAF33143}"/>
              </a:ext>
            </a:extLst>
          </p:cNvPr>
          <p:cNvSpPr txBox="1"/>
          <p:nvPr/>
        </p:nvSpPr>
        <p:spPr>
          <a:xfrm>
            <a:off x="3295360" y="523220"/>
            <a:ext cx="56012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FY2017 Analysis: Where Are We Losing Money?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8B8AAB-5A04-3A2C-32FF-A7D9A9EB5BE3}"/>
              </a:ext>
            </a:extLst>
          </p:cNvPr>
          <p:cNvSpPr txBox="1"/>
          <p:nvPr/>
        </p:nvSpPr>
        <p:spPr>
          <a:xfrm>
            <a:off x="487604" y="923330"/>
            <a:ext cx="1064064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ighlight>
                  <a:srgbClr val="FFFF00"/>
                </a:highlight>
              </a:rPr>
              <a:t>Executive Summary:</a:t>
            </a:r>
          </a:p>
          <a:p>
            <a:r>
              <a:rPr lang="en-US" sz="1400" dirty="0"/>
              <a:t>• Revenue Growth 2014-2017: ($484K → $733K) </a:t>
            </a:r>
          </a:p>
          <a:p>
            <a:r>
              <a:rPr lang="en-US" sz="1400" dirty="0"/>
              <a:t>• Profit Growth 2014-2017: ($50K → $93K) </a:t>
            </a:r>
          </a:p>
          <a:p>
            <a:r>
              <a:rPr lang="en-US" sz="1400" dirty="0"/>
              <a:t>• Profit Margin: 12.47% (industry target: 18-20%) </a:t>
            </a:r>
          </a:p>
          <a:p>
            <a:r>
              <a:rPr lang="en-US" sz="1400" dirty="0"/>
              <a:t>• Loss-Making Transactions: 1,871 (18.7% of all sales) </a:t>
            </a:r>
          </a:p>
          <a:p>
            <a:endParaRPr lang="en-US" sz="1400" dirty="0"/>
          </a:p>
          <a:p>
            <a:r>
              <a:rPr lang="en-US" sz="1400" dirty="0">
                <a:highlight>
                  <a:srgbClr val="FFFF00"/>
                </a:highlight>
              </a:rPr>
              <a:t>The Problem:</a:t>
            </a:r>
          </a:p>
          <a:p>
            <a:r>
              <a:rPr lang="en-US" sz="1400" dirty="0"/>
              <a:t>Revenue is growing, but efficiency is declining. We're growing the wrong things.</a:t>
            </a:r>
          </a:p>
          <a:p>
            <a:r>
              <a:rPr lang="en-US" sz="1400" dirty="0"/>
              <a:t>We need to identify WHERE we're losing money and WHY.</a:t>
            </a:r>
          </a:p>
          <a:p>
            <a:endParaRPr lang="en-US" sz="1400" dirty="0"/>
          </a:p>
          <a:p>
            <a:r>
              <a:rPr lang="en-US" sz="1400" dirty="0"/>
              <a:t>Next: Let's look at the data...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002B36-D028-BA51-63CF-777DE3020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352" y="2911588"/>
            <a:ext cx="7931368" cy="380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762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CAEAEA-4C1D-7F39-CFAE-5C0AB6A193BD}"/>
              </a:ext>
            </a:extLst>
          </p:cNvPr>
          <p:cNvSpPr txBox="1"/>
          <p:nvPr/>
        </p:nvSpPr>
        <p:spPr>
          <a:xfrm>
            <a:off x="1958489" y="109728"/>
            <a:ext cx="82750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/>
              <a:t>Which Product Categories Are Dragging Us Down?</a:t>
            </a:r>
            <a:endParaRPr lang="en-US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594601-7B24-A174-B674-F195350B2CF7}"/>
              </a:ext>
            </a:extLst>
          </p:cNvPr>
          <p:cNvSpPr txBox="1"/>
          <p:nvPr/>
        </p:nvSpPr>
        <p:spPr>
          <a:xfrm>
            <a:off x="211074" y="412373"/>
            <a:ext cx="5675376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ighlight>
                  <a:srgbClr val="FFFF00"/>
                </a:highlight>
              </a:rPr>
              <a:t>Category Performance Breakdown:                                  </a:t>
            </a:r>
          </a:p>
          <a:p>
            <a:endParaRPr lang="en-US" sz="1400" dirty="0"/>
          </a:p>
          <a:p>
            <a:r>
              <a:rPr lang="en-US" sz="1400" dirty="0"/>
              <a:t>Office Supplies (Growth Driver):</a:t>
            </a:r>
          </a:p>
          <a:p>
            <a:r>
              <a:rPr lang="en-US" sz="1400" dirty="0"/>
              <a:t>• Revenue: $719.05K</a:t>
            </a:r>
          </a:p>
          <a:p>
            <a:r>
              <a:rPr lang="en-US" sz="1400" dirty="0"/>
              <a:t>• Profit: $122.49K</a:t>
            </a:r>
          </a:p>
          <a:p>
            <a:r>
              <a:rPr lang="en-US" sz="1400" dirty="0"/>
              <a:t>• Margin: 17.04%</a:t>
            </a:r>
          </a:p>
          <a:p>
            <a:r>
              <a:rPr lang="en-US" sz="1400" dirty="0"/>
              <a:t>• Status: Stable but could improve</a:t>
            </a:r>
          </a:p>
          <a:p>
            <a:endParaRPr lang="en-US" sz="1400" dirty="0"/>
          </a:p>
          <a:p>
            <a:r>
              <a:rPr lang="en-US" sz="1400" dirty="0"/>
              <a:t>Technology (Our Strong Performer):</a:t>
            </a:r>
          </a:p>
          <a:p>
            <a:r>
              <a:rPr lang="en-US" sz="1400" dirty="0"/>
              <a:t>• Revenue: $836.15K</a:t>
            </a:r>
          </a:p>
          <a:p>
            <a:r>
              <a:rPr lang="en-US" sz="1400" dirty="0"/>
              <a:t>• Profit: $145.45K</a:t>
            </a:r>
          </a:p>
          <a:p>
            <a:r>
              <a:rPr lang="en-US" sz="1400" dirty="0"/>
              <a:t>• Margin: 17.40%</a:t>
            </a:r>
          </a:p>
          <a:p>
            <a:r>
              <a:rPr lang="en-US" sz="1400" dirty="0"/>
              <a:t>• Status: Strong performer, growing well</a:t>
            </a:r>
          </a:p>
          <a:p>
            <a:endParaRPr lang="en-US" sz="1400" dirty="0"/>
          </a:p>
          <a:p>
            <a:r>
              <a:rPr lang="en-US" sz="1400" dirty="0"/>
              <a:t>Furniture (THE PROBLEM):</a:t>
            </a:r>
          </a:p>
          <a:p>
            <a:r>
              <a:rPr lang="en-US" sz="1400" dirty="0"/>
              <a:t>• Revenue: $742K</a:t>
            </a:r>
          </a:p>
          <a:p>
            <a:r>
              <a:rPr lang="en-US" sz="1400" dirty="0"/>
              <a:t>• Profit: $18.45K</a:t>
            </a:r>
          </a:p>
          <a:p>
            <a:r>
              <a:rPr lang="en-US" sz="1400" dirty="0"/>
              <a:t>• Margin: 2.49% </a:t>
            </a:r>
          </a:p>
          <a:p>
            <a:r>
              <a:rPr lang="en-US" sz="1400" dirty="0"/>
              <a:t>• Status: We're barely breaking even on Furniture</a:t>
            </a:r>
          </a:p>
          <a:p>
            <a:r>
              <a:rPr lang="en-US" sz="1400" dirty="0"/>
              <a:t>• Loss Transactions: High percentage</a:t>
            </a:r>
          </a:p>
          <a:p>
            <a:r>
              <a:rPr lang="en-US" sz="1400" dirty="0"/>
              <a:t>• Root Cause: Heavy discounting on this category</a:t>
            </a:r>
          </a:p>
          <a:p>
            <a:endParaRPr lang="en-US" sz="1400" dirty="0"/>
          </a:p>
          <a:p>
            <a:r>
              <a:rPr lang="en-US" sz="1400" dirty="0">
                <a:highlight>
                  <a:srgbClr val="008080"/>
                </a:highlight>
              </a:rPr>
              <a:t>Key Finding:</a:t>
            </a:r>
          </a:p>
          <a:p>
            <a:r>
              <a:rPr lang="en-US" sz="1400" dirty="0"/>
              <a:t>Furniture represents ~32% of revenue but only ~6% of </a:t>
            </a:r>
          </a:p>
          <a:p>
            <a:r>
              <a:rPr lang="en-US" sz="1400" dirty="0"/>
              <a:t>profit. Total Margin share is 2-3%.</a:t>
            </a:r>
          </a:p>
          <a:p>
            <a:r>
              <a:rPr lang="en-US" sz="1400" dirty="0"/>
              <a:t>It's dragging down overall margin. </a:t>
            </a:r>
          </a:p>
          <a:p>
            <a:endParaRPr lang="en-US" sz="1400" dirty="0"/>
          </a:p>
          <a:p>
            <a:r>
              <a:rPr lang="en-US" sz="1400" dirty="0">
                <a:highlight>
                  <a:srgbClr val="008000"/>
                </a:highlight>
              </a:rPr>
              <a:t>Recommendation:</a:t>
            </a:r>
          </a:p>
          <a:p>
            <a:r>
              <a:rPr lang="en-US" sz="1400" dirty="0"/>
              <a:t>Either improve Furniture margins OR reduce volume in this category.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6FC18E-A04D-7AE2-82CE-F7602EABC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1144" y="923543"/>
            <a:ext cx="7610856" cy="4821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11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FB6871-7F1A-FF89-B8BA-11CF278BD62C}"/>
              </a:ext>
            </a:extLst>
          </p:cNvPr>
          <p:cNvSpPr txBox="1"/>
          <p:nvPr/>
        </p:nvSpPr>
        <p:spPr>
          <a:xfrm>
            <a:off x="3538728" y="164592"/>
            <a:ext cx="48301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Geographic 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799C18-DC5F-719A-FB99-844D448FC5B7}"/>
              </a:ext>
            </a:extLst>
          </p:cNvPr>
          <p:cNvSpPr txBox="1"/>
          <p:nvPr/>
        </p:nvSpPr>
        <p:spPr>
          <a:xfrm>
            <a:off x="237745" y="621792"/>
            <a:ext cx="528523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ighlight>
                  <a:srgbClr val="FFFF00"/>
                </a:highlight>
              </a:rPr>
              <a:t>Regional Performance:</a:t>
            </a:r>
          </a:p>
          <a:p>
            <a:endParaRPr lang="en-US" sz="1400" dirty="0"/>
          </a:p>
          <a:p>
            <a:r>
              <a:rPr lang="en-US" sz="1400" dirty="0"/>
              <a:t>East Region (Strong):</a:t>
            </a:r>
          </a:p>
          <a:p>
            <a:r>
              <a:rPr lang="en-US" sz="1400" dirty="0"/>
              <a:t>• Margin: 13.48%</a:t>
            </a:r>
          </a:p>
          <a:p>
            <a:r>
              <a:rPr lang="en-US" sz="1400" dirty="0"/>
              <a:t>• Status: Solid, good margins</a:t>
            </a:r>
          </a:p>
          <a:p>
            <a:endParaRPr lang="en-US" sz="1400" dirty="0"/>
          </a:p>
          <a:p>
            <a:r>
              <a:rPr lang="en-US" sz="1400" dirty="0"/>
              <a:t>West Region:</a:t>
            </a:r>
          </a:p>
          <a:p>
            <a:r>
              <a:rPr lang="en-US" sz="1400" dirty="0"/>
              <a:t>• Margin: 14.94%</a:t>
            </a:r>
          </a:p>
          <a:p>
            <a:r>
              <a:rPr lang="en-US" sz="1400" dirty="0"/>
              <a:t>• Status: Best Performer, Fantastic margin</a:t>
            </a:r>
          </a:p>
          <a:p>
            <a:endParaRPr lang="en-US" sz="1400" dirty="0"/>
          </a:p>
          <a:p>
            <a:r>
              <a:rPr lang="en-US" sz="1400" dirty="0"/>
              <a:t>South Region:</a:t>
            </a:r>
          </a:p>
          <a:p>
            <a:r>
              <a:rPr lang="en-US" sz="1400" dirty="0"/>
              <a:t>• Margin: 11.93%</a:t>
            </a:r>
          </a:p>
          <a:p>
            <a:r>
              <a:rPr lang="en-US" sz="1400" dirty="0"/>
              <a:t>• Status: Good average</a:t>
            </a:r>
          </a:p>
          <a:p>
            <a:endParaRPr lang="en-US" sz="1400" dirty="0"/>
          </a:p>
          <a:p>
            <a:r>
              <a:rPr lang="en-US" sz="1400" dirty="0"/>
              <a:t>Central Region (PROBLEM):</a:t>
            </a:r>
          </a:p>
          <a:p>
            <a:r>
              <a:rPr lang="en-US" sz="1400" dirty="0"/>
              <a:t>• Margin: 7.92% </a:t>
            </a:r>
          </a:p>
          <a:p>
            <a:r>
              <a:rPr lang="en-US" sz="1400" dirty="0"/>
              <a:t>• Status: Underperforming</a:t>
            </a:r>
          </a:p>
          <a:p>
            <a:r>
              <a:rPr lang="en-US" sz="1400" dirty="0"/>
              <a:t>• Issue: High discounting, possibly </a:t>
            </a:r>
          </a:p>
          <a:p>
            <a:r>
              <a:rPr lang="en-US" sz="1400" dirty="0"/>
              <a:t>poor sales execution</a:t>
            </a:r>
          </a:p>
          <a:p>
            <a:endParaRPr lang="en-US" sz="1400" dirty="0"/>
          </a:p>
          <a:p>
            <a:r>
              <a:rPr lang="en-US" sz="1400" dirty="0">
                <a:highlight>
                  <a:srgbClr val="008080"/>
                </a:highlight>
              </a:rPr>
              <a:t>Key Finding:</a:t>
            </a:r>
          </a:p>
          <a:p>
            <a:r>
              <a:rPr lang="en-US" sz="1400" dirty="0"/>
              <a:t>Central region pulls down </a:t>
            </a:r>
          </a:p>
          <a:p>
            <a:r>
              <a:rPr lang="en-US" sz="1400" dirty="0"/>
              <a:t>overall company margin by 2-3%.</a:t>
            </a:r>
          </a:p>
          <a:p>
            <a:endParaRPr lang="en-US" sz="1400" dirty="0"/>
          </a:p>
          <a:p>
            <a:r>
              <a:rPr lang="en-US" sz="1400" dirty="0">
                <a:highlight>
                  <a:srgbClr val="008000"/>
                </a:highlight>
              </a:rPr>
              <a:t>Recommendation:</a:t>
            </a:r>
          </a:p>
          <a:p>
            <a:r>
              <a:rPr lang="en-US" sz="1400" dirty="0"/>
              <a:t>Investigate Central region: pricing strategy, sales incentives, </a:t>
            </a:r>
          </a:p>
          <a:p>
            <a:r>
              <a:rPr lang="en-US" sz="1400" dirty="0"/>
              <a:t>competitive dynamics. Benchmark against West region practices.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CFFBDA-6922-A20D-4664-022244C23E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8728" y="988553"/>
            <a:ext cx="8653272" cy="487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174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192AEA-F8CF-DC1E-D4A8-AC2EAAC02ACE}"/>
              </a:ext>
            </a:extLst>
          </p:cNvPr>
          <p:cNvSpPr txBox="1"/>
          <p:nvPr/>
        </p:nvSpPr>
        <p:spPr>
          <a:xfrm>
            <a:off x="4223759" y="237744"/>
            <a:ext cx="3283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DISCOUNT IMPACT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174EBE-D580-A256-5947-4C255494BDB1}"/>
              </a:ext>
            </a:extLst>
          </p:cNvPr>
          <p:cNvSpPr txBox="1"/>
          <p:nvPr/>
        </p:nvSpPr>
        <p:spPr>
          <a:xfrm>
            <a:off x="3663830" y="709439"/>
            <a:ext cx="4403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Every Discount &gt;20% Destroys Profit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258EEC-11FC-6318-B07D-5EFFC93E90ED}"/>
              </a:ext>
            </a:extLst>
          </p:cNvPr>
          <p:cNvSpPr txBox="1"/>
          <p:nvPr/>
        </p:nvSpPr>
        <p:spPr>
          <a:xfrm>
            <a:off x="109728" y="89214"/>
            <a:ext cx="4353115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highlight>
                  <a:srgbClr val="FFFF00"/>
                </a:highlight>
              </a:rPr>
              <a:t>The Discount-Profitability Relationship:</a:t>
            </a:r>
          </a:p>
          <a:p>
            <a:endParaRPr lang="en-US" sz="1400" dirty="0"/>
          </a:p>
          <a:p>
            <a:r>
              <a:rPr lang="en-US" sz="1400" dirty="0"/>
              <a:t>No Discount Sales:</a:t>
            </a:r>
          </a:p>
          <a:p>
            <a:r>
              <a:rPr lang="en-US" sz="1400" dirty="0"/>
              <a:t>• Volume: ~4,800 transactions</a:t>
            </a:r>
          </a:p>
          <a:p>
            <a:r>
              <a:rPr lang="en-US" sz="1400" dirty="0"/>
              <a:t>• Revenue: $1,087K</a:t>
            </a:r>
          </a:p>
          <a:p>
            <a:r>
              <a:rPr lang="en-US" sz="1400" dirty="0"/>
              <a:t>• Profit: $320K</a:t>
            </a:r>
          </a:p>
          <a:p>
            <a:r>
              <a:rPr lang="en-US" sz="1400" dirty="0"/>
              <a:t>• Margin: 30% </a:t>
            </a:r>
          </a:p>
          <a:p>
            <a:r>
              <a:rPr lang="en-US" sz="1400" dirty="0"/>
              <a:t>• Status: Most profitable sales</a:t>
            </a:r>
          </a:p>
          <a:p>
            <a:endParaRPr lang="en-US" sz="1400" dirty="0"/>
          </a:p>
          <a:p>
            <a:r>
              <a:rPr lang="en-US" sz="1400" dirty="0"/>
              <a:t>Low Discount (0-10%):</a:t>
            </a:r>
          </a:p>
          <a:p>
            <a:r>
              <a:rPr lang="en-US" sz="1400" dirty="0"/>
              <a:t>• Volume: ~100 transactions</a:t>
            </a:r>
          </a:p>
          <a:p>
            <a:r>
              <a:rPr lang="en-US" sz="1400" dirty="0"/>
              <a:t>• Revenue: $54K</a:t>
            </a:r>
          </a:p>
          <a:p>
            <a:r>
              <a:rPr lang="en-US" sz="1400" dirty="0"/>
              <a:t>• Profit: $9K</a:t>
            </a:r>
          </a:p>
          <a:p>
            <a:r>
              <a:rPr lang="en-US" sz="1400" dirty="0"/>
              <a:t>• Margin: 17% </a:t>
            </a:r>
          </a:p>
          <a:p>
            <a:r>
              <a:rPr lang="en-US" sz="1400" dirty="0"/>
              <a:t>• Status: Still profitable</a:t>
            </a:r>
          </a:p>
          <a:p>
            <a:endParaRPr lang="en-US" sz="1400" dirty="0"/>
          </a:p>
          <a:p>
            <a:r>
              <a:rPr lang="en-US" sz="1400" dirty="0"/>
              <a:t>Medium Discount (10-20%):</a:t>
            </a:r>
          </a:p>
          <a:p>
            <a:r>
              <a:rPr lang="en-US" sz="1400" dirty="0"/>
              <a:t>• Volume: ~3,700 transactions</a:t>
            </a:r>
          </a:p>
          <a:p>
            <a:r>
              <a:rPr lang="en-US" sz="1400" dirty="0"/>
              <a:t>• Revenue: $792K</a:t>
            </a:r>
          </a:p>
          <a:p>
            <a:r>
              <a:rPr lang="en-US" sz="1400" dirty="0"/>
              <a:t>• Profit: $91K</a:t>
            </a:r>
          </a:p>
          <a:p>
            <a:r>
              <a:rPr lang="en-US" sz="1400" dirty="0"/>
              <a:t>• Margin: 12% (marginal)</a:t>
            </a:r>
          </a:p>
          <a:p>
            <a:r>
              <a:rPr lang="en-US" sz="1400" dirty="0"/>
              <a:t>• Status: Barely profitable</a:t>
            </a:r>
          </a:p>
          <a:p>
            <a:endParaRPr lang="en-US" sz="1400" dirty="0"/>
          </a:p>
          <a:p>
            <a:r>
              <a:rPr lang="en-US" sz="1400" dirty="0"/>
              <a:t>High Discount (&gt;20%):</a:t>
            </a:r>
          </a:p>
          <a:p>
            <a:r>
              <a:rPr lang="en-US" sz="1400" dirty="0"/>
              <a:t>• Volume: ~1,400 transactions</a:t>
            </a:r>
          </a:p>
          <a:p>
            <a:r>
              <a:rPr lang="en-US" sz="1400" dirty="0"/>
              <a:t>• Revenue: $362K</a:t>
            </a:r>
          </a:p>
          <a:p>
            <a:r>
              <a:rPr lang="en-US" sz="1400" dirty="0"/>
              <a:t>• Profit: -$135K NEGATIVE</a:t>
            </a:r>
          </a:p>
          <a:p>
            <a:r>
              <a:rPr lang="en-US" sz="1400" dirty="0"/>
              <a:t>• Margin: -37% NEGATIVE</a:t>
            </a:r>
          </a:p>
          <a:p>
            <a:r>
              <a:rPr lang="en-US" sz="1400" dirty="0"/>
              <a:t>• Status: This segment is destroying shareholder value</a:t>
            </a:r>
          </a:p>
          <a:p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C6EE7B-CF02-5F4E-C95E-5F6116F3C1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9722" y="1394795"/>
            <a:ext cx="7628294" cy="34240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0017B4-B482-73DE-3E57-BEF1601A28D7}"/>
              </a:ext>
            </a:extLst>
          </p:cNvPr>
          <p:cNvSpPr txBox="1"/>
          <p:nvPr/>
        </p:nvSpPr>
        <p:spPr>
          <a:xfrm>
            <a:off x="4397495" y="4770336"/>
            <a:ext cx="411305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ighlight>
                  <a:srgbClr val="008080"/>
                </a:highlight>
              </a:rPr>
              <a:t>The Critical Finding:</a:t>
            </a:r>
          </a:p>
          <a:p>
            <a:r>
              <a:rPr lang="en-US" sz="1400" dirty="0"/>
              <a:t>We are LOSING $135,376 on high-discount sales.</a:t>
            </a:r>
          </a:p>
          <a:p>
            <a:r>
              <a:rPr lang="en-US" sz="1400" dirty="0"/>
              <a:t>These 1,400 transactions are profit killers.</a:t>
            </a:r>
          </a:p>
          <a:p>
            <a:endParaRPr lang="en-US" sz="1400" dirty="0"/>
          </a:p>
          <a:p>
            <a:r>
              <a:rPr lang="en-US" sz="1400" dirty="0">
                <a:highlight>
                  <a:srgbClr val="008000"/>
                </a:highlight>
              </a:rPr>
              <a:t>The Opportunity:</a:t>
            </a:r>
          </a:p>
          <a:p>
            <a:r>
              <a:rPr lang="en-US" sz="1400" dirty="0"/>
              <a:t>If we shifted high-discount sales to a sustainable no discount 30% margin:</a:t>
            </a:r>
          </a:p>
          <a:p>
            <a:r>
              <a:rPr lang="en-US" sz="1400" dirty="0"/>
              <a:t>PROFIT OPPORTUNITY: +$242K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9019BA-9892-2CAD-170E-E8442C7552FC}"/>
              </a:ext>
            </a:extLst>
          </p:cNvPr>
          <p:cNvSpPr txBox="1"/>
          <p:nvPr/>
        </p:nvSpPr>
        <p:spPr>
          <a:xfrm>
            <a:off x="8235161" y="4935750"/>
            <a:ext cx="3847111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ighlight>
                  <a:srgbClr val="00FFFF"/>
                </a:highlight>
              </a:rPr>
              <a:t>Why This Matters:</a:t>
            </a:r>
          </a:p>
          <a:p>
            <a:r>
              <a:rPr lang="en-US" sz="1400" dirty="0"/>
              <a:t>• Every discount deepens the margin cut</a:t>
            </a:r>
          </a:p>
          <a:p>
            <a:r>
              <a:rPr lang="en-US" sz="1400" dirty="0"/>
              <a:t>• High discounts destroy more profit than they generate in volume</a:t>
            </a:r>
          </a:p>
          <a:p>
            <a:r>
              <a:rPr lang="en-US" sz="1400" dirty="0"/>
              <a:t>• We're using discounts as a crutch, not a strategy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149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71D1F9-01E2-364D-2931-0C704BDC472A}"/>
              </a:ext>
            </a:extLst>
          </p:cNvPr>
          <p:cNvSpPr txBox="1"/>
          <p:nvPr/>
        </p:nvSpPr>
        <p:spPr>
          <a:xfrm>
            <a:off x="3223967" y="245097"/>
            <a:ext cx="6217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FY2018 Strategy: Restore Profitability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187149-69F2-59D7-D345-ECD5823C8B67}"/>
              </a:ext>
            </a:extLst>
          </p:cNvPr>
          <p:cNvSpPr txBox="1"/>
          <p:nvPr/>
        </p:nvSpPr>
        <p:spPr>
          <a:xfrm>
            <a:off x="351899" y="768317"/>
            <a:ext cx="5769080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ighlight>
                  <a:srgbClr val="FFFF00"/>
                </a:highlight>
              </a:rPr>
              <a:t>CURRENT STATE (FY2017):</a:t>
            </a:r>
          </a:p>
          <a:p>
            <a:r>
              <a:rPr lang="en-US" sz="1200" dirty="0"/>
              <a:t>├─ Total Revenue: $2.3M</a:t>
            </a:r>
          </a:p>
          <a:p>
            <a:r>
              <a:rPr lang="en-US" sz="1200" dirty="0"/>
              <a:t>├─ Total Profit: $286.4K</a:t>
            </a:r>
          </a:p>
          <a:p>
            <a:r>
              <a:rPr lang="en-US" sz="1200" dirty="0"/>
              <a:t>├─ Profit Margin: 12.47%</a:t>
            </a:r>
          </a:p>
          <a:p>
            <a:r>
              <a:rPr lang="en-US" sz="1200" dirty="0"/>
              <a:t>└─ Loss Transactions: 1,871</a:t>
            </a:r>
          </a:p>
          <a:p>
            <a:endParaRPr lang="en-US" sz="1200" dirty="0"/>
          </a:p>
          <a:p>
            <a:r>
              <a:rPr lang="en-US" sz="1200" dirty="0">
                <a:highlight>
                  <a:srgbClr val="008000"/>
                </a:highlight>
              </a:rPr>
              <a:t>THREE SPECIFIC ACTIONS FOR FY2018:</a:t>
            </a:r>
          </a:p>
          <a:p>
            <a:endParaRPr lang="en-US" sz="1200" dirty="0"/>
          </a:p>
          <a:p>
            <a:r>
              <a:rPr lang="en-US" sz="1200" dirty="0"/>
              <a:t>ACTION 1: Limit High Discounts (&gt;20%)</a:t>
            </a:r>
          </a:p>
          <a:p>
            <a:r>
              <a:rPr lang="en-US" sz="1200" dirty="0"/>
              <a:t>─────────────────────────────────────</a:t>
            </a:r>
          </a:p>
          <a:p>
            <a:r>
              <a:rPr lang="en-US" sz="1200" dirty="0"/>
              <a:t>Problem: $362.7K in high-discount sales are losing $135.3K</a:t>
            </a:r>
          </a:p>
          <a:p>
            <a:r>
              <a:rPr lang="en-US" sz="1200" dirty="0"/>
              <a:t>Target: Shift to sustainable 30% margin - no discount margin</a:t>
            </a:r>
          </a:p>
          <a:p>
            <a:r>
              <a:rPr lang="en-US" sz="1200" dirty="0"/>
              <a:t>Impact: +$242K PROFIT IMPROVEMENT</a:t>
            </a:r>
          </a:p>
          <a:p>
            <a:r>
              <a:rPr lang="en-US" sz="1200" dirty="0"/>
              <a:t>Implementation:</a:t>
            </a:r>
          </a:p>
          <a:p>
            <a:r>
              <a:rPr lang="en-US" sz="1200" dirty="0"/>
              <a:t>  • Policy: No discounts above 15% (exceptions require VP approval)</a:t>
            </a:r>
          </a:p>
          <a:p>
            <a:r>
              <a:rPr lang="en-US" sz="1200" dirty="0"/>
              <a:t>  • Sales Training: Teach value-based selling, not discount-based</a:t>
            </a:r>
          </a:p>
          <a:p>
            <a:r>
              <a:rPr lang="en-US" sz="1200" dirty="0"/>
              <a:t>  • Incentives: Bonus for margin, not just volume</a:t>
            </a:r>
          </a:p>
          <a:p>
            <a:r>
              <a:rPr lang="en-US" sz="1200" dirty="0"/>
              <a:t>  • Timeline: Immediate (Q1 FY2018)</a:t>
            </a:r>
          </a:p>
          <a:p>
            <a:r>
              <a:rPr lang="en-US" sz="1200" dirty="0"/>
              <a:t>Risk: May lose some price-sensitive customers (acceptable trade-off for profitability)</a:t>
            </a:r>
          </a:p>
          <a:p>
            <a:endParaRPr lang="en-US" sz="1200" dirty="0"/>
          </a:p>
          <a:p>
            <a:r>
              <a:rPr lang="en-US" sz="1200" dirty="0"/>
              <a:t>ACTION 2: Fix Furniture Category Margins</a:t>
            </a:r>
          </a:p>
          <a:p>
            <a:r>
              <a:rPr lang="en-US" sz="1200" dirty="0"/>
              <a:t>────────────────────────────────────────</a:t>
            </a:r>
          </a:p>
          <a:p>
            <a:r>
              <a:rPr lang="en-US" sz="1200" dirty="0"/>
              <a:t>Problem: Furniture = 32% of revenue, only 6% of profit (2-3% margin)</a:t>
            </a:r>
          </a:p>
          <a:p>
            <a:r>
              <a:rPr lang="en-US" sz="1200" dirty="0"/>
              <a:t>Target: Achieve Office Supplies margin (10%+)</a:t>
            </a:r>
          </a:p>
          <a:p>
            <a:r>
              <a:rPr lang="en-US" sz="1200" dirty="0"/>
              <a:t>Impact: +$110K PROFIT IMPROVEMENT</a:t>
            </a:r>
          </a:p>
          <a:p>
            <a:r>
              <a:rPr lang="en-US" sz="1200" dirty="0"/>
              <a:t>Implementation:</a:t>
            </a:r>
          </a:p>
          <a:p>
            <a:r>
              <a:rPr lang="en-US" sz="1200" dirty="0"/>
              <a:t>  • Cost Review: Audit supplier contracts for Furniture</a:t>
            </a:r>
          </a:p>
          <a:p>
            <a:r>
              <a:rPr lang="en-US" sz="1200" dirty="0"/>
              <a:t>  • SKU Rationalization: Eliminate low-margin SKUs</a:t>
            </a:r>
          </a:p>
          <a:p>
            <a:r>
              <a:rPr lang="en-US" sz="1200" dirty="0"/>
              <a:t>  • Pricing Strategy: Less discounting, premium positioning for quality lines</a:t>
            </a:r>
          </a:p>
          <a:p>
            <a:r>
              <a:rPr lang="en-US" sz="1200" dirty="0"/>
              <a:t>  • Category Mix: Shift toward higher-margin furniture styles</a:t>
            </a:r>
          </a:p>
          <a:p>
            <a:r>
              <a:rPr lang="en-US" sz="1200" dirty="0"/>
              <a:t>  • Timeline: Q1-Q2 FY2018 (supplier negotiations)</a:t>
            </a:r>
          </a:p>
          <a:p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DABBCF-107A-6D9F-FABF-5B34DD519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192" y="841248"/>
            <a:ext cx="7176258" cy="27811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AB6251-8E3C-06B1-C32D-519ED5E90586}"/>
              </a:ext>
            </a:extLst>
          </p:cNvPr>
          <p:cNvSpPr txBox="1"/>
          <p:nvPr/>
        </p:nvSpPr>
        <p:spPr>
          <a:xfrm flipH="1">
            <a:off x="5992806" y="2855543"/>
            <a:ext cx="512020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ACTION 3: Improve Central Region Performance</a:t>
            </a:r>
          </a:p>
          <a:p>
            <a:r>
              <a:rPr lang="en-US" sz="1200" dirty="0"/>
              <a:t>─────────────────────────────────────────────</a:t>
            </a:r>
          </a:p>
          <a:p>
            <a:r>
              <a:rPr lang="en-US" sz="1200" dirty="0"/>
              <a:t>Problem: Central = 7.92% margin (vs West = 14.94%)</a:t>
            </a:r>
          </a:p>
          <a:p>
            <a:r>
              <a:rPr lang="en-US" sz="1200" dirty="0"/>
              <a:t>Target: Match West region best practices</a:t>
            </a:r>
          </a:p>
          <a:p>
            <a:r>
              <a:rPr lang="en-US" sz="1200" dirty="0"/>
              <a:t>Impact: +$35K PROFIT IMPROVEMENT</a:t>
            </a:r>
          </a:p>
          <a:p>
            <a:r>
              <a:rPr lang="en-US" sz="1200" dirty="0"/>
              <a:t>Implementation:</a:t>
            </a:r>
          </a:p>
          <a:p>
            <a:r>
              <a:rPr lang="en-US" sz="1200" dirty="0"/>
              <a:t>  • Knowledge Transfer: Share West region practices with Central</a:t>
            </a:r>
          </a:p>
          <a:p>
            <a:r>
              <a:rPr lang="en-US" sz="1200" dirty="0"/>
              <a:t>  • Sales Coaching: Improve negotiation skills to reduce discounting</a:t>
            </a:r>
          </a:p>
          <a:p>
            <a:r>
              <a:rPr lang="en-US" sz="1200" dirty="0"/>
              <a:t>  • Territory Review: Realign accounts if needed</a:t>
            </a:r>
          </a:p>
          <a:p>
            <a:r>
              <a:rPr lang="en-US" sz="1200" dirty="0"/>
              <a:t>  • Timeline: Q1-Q2 FY2018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983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408441-D2C1-9568-A53E-78A90FD77736}"/>
              </a:ext>
            </a:extLst>
          </p:cNvPr>
          <p:cNvSpPr txBox="1"/>
          <p:nvPr/>
        </p:nvSpPr>
        <p:spPr>
          <a:xfrm>
            <a:off x="410338" y="500253"/>
            <a:ext cx="10250424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highlight>
                  <a:srgbClr val="008000"/>
                </a:highlight>
              </a:rPr>
              <a:t>Total Impact:</a:t>
            </a:r>
          </a:p>
          <a:p>
            <a:endParaRPr lang="en-US" sz="1400" dirty="0"/>
          </a:p>
          <a:p>
            <a:r>
              <a:rPr lang="en-US" sz="1400" dirty="0"/>
              <a:t>PROJECTED FY2018 RESULTS (If all 3 actions implemented):</a:t>
            </a:r>
          </a:p>
          <a:p>
            <a:r>
              <a:rPr lang="en-US" sz="1400" dirty="0"/>
              <a:t>├─ Total Revenue: $2.30M (Assuming unchanged - same customers, same volume)</a:t>
            </a:r>
          </a:p>
          <a:p>
            <a:r>
              <a:rPr lang="en-US" sz="1400" dirty="0"/>
              <a:t>├─ Total Profit: $674K(improvement: +$388K)</a:t>
            </a:r>
          </a:p>
          <a:p>
            <a:r>
              <a:rPr lang="en-US" sz="1400" dirty="0"/>
              <a:t>├─ Profit Margin: 29.37% (improvement: +16.90 percentage points)</a:t>
            </a:r>
          </a:p>
          <a:p>
            <a:endParaRPr lang="en-US" sz="1400" dirty="0"/>
          </a:p>
          <a:p>
            <a:r>
              <a:rPr lang="en-US" sz="1400" dirty="0">
                <a:highlight>
                  <a:srgbClr val="FFFF00"/>
                </a:highlight>
              </a:rPr>
              <a:t>THE BOTTOM LINE:</a:t>
            </a:r>
          </a:p>
          <a:p>
            <a:r>
              <a:rPr lang="en-US" sz="1400" dirty="0"/>
              <a:t>"We don't need to grow bigger. We need to get smarter about HOW we grow.</a:t>
            </a:r>
          </a:p>
          <a:p>
            <a:r>
              <a:rPr lang="en-US" sz="1400" dirty="0"/>
              <a:t>By eliminating unprofitable discounting, fixing Furniture margins, and learning</a:t>
            </a:r>
          </a:p>
          <a:p>
            <a:r>
              <a:rPr lang="en-US" sz="1400" dirty="0"/>
              <a:t>from our best regions, we can turn a 12% margin business into an 29% margin business.</a:t>
            </a:r>
          </a:p>
          <a:p>
            <a:r>
              <a:rPr lang="en-US" sz="1400" dirty="0"/>
              <a:t>That’s $388K additional profit with around  ~$50K (training, consulting, systems)."</a:t>
            </a:r>
          </a:p>
        </p:txBody>
      </p:sp>
    </p:spTree>
    <p:extLst>
      <p:ext uri="{BB962C8B-B14F-4D97-AF65-F5344CB8AC3E}">
        <p14:creationId xmlns:p14="http://schemas.microsoft.com/office/powerpoint/2010/main" val="4009062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1018</Words>
  <Application>Microsoft Office PowerPoint</Application>
  <PresentationFormat>Widescreen</PresentationFormat>
  <Paragraphs>167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Gowtham Venkat</dc:creator>
  <cp:lastModifiedBy>Gowtham Venkat</cp:lastModifiedBy>
  <cp:revision>1</cp:revision>
  <dcterms:created xsi:type="dcterms:W3CDTF">2026-05-15T11:47:24Z</dcterms:created>
  <dcterms:modified xsi:type="dcterms:W3CDTF">2026-05-15T14:37:18Z</dcterms:modified>
</cp:coreProperties>
</file>